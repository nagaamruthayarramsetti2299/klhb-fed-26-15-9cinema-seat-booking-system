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03720" y="960120"/>
            <a:ext cx="4389120" cy="2286000"/>
          </a:xfrm>
          <a:prstGeom prst="roundRect">
            <a:avLst/>
          </a:prstGeom>
          <a:solidFill>
            <a:srgbClr val="182946"/>
          </a:solidFill>
          <a:ln>
            <a:solidFill>
              <a:srgbClr val="2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1298448"/>
            <a:ext cx="3566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FFBE5C"/>
                </a:solidFill>
                <a:latin typeface="Aptos"/>
              </a:rPr>
              <a:t>CINEMA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783080"/>
            <a:ext cx="35661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 i="0">
                <a:solidFill>
                  <a:srgbClr val="F6F8FC"/>
                </a:solidFill>
                <a:latin typeface="Aptos"/>
              </a:rPr>
              <a:t>SEAT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487168"/>
            <a:ext cx="3566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2BEAA"/>
                </a:solidFill>
                <a:latin typeface="Aptos"/>
              </a:rPr>
              <a:t>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3794760"/>
            <a:ext cx="268833" cy="307238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09917" y="4031589"/>
            <a:ext cx="313639" cy="108813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57923" y="4127601"/>
            <a:ext cx="35204" cy="960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49947" y="4127601"/>
            <a:ext cx="35204" cy="960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99248" y="3794760"/>
            <a:ext cx="268833" cy="307238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76845" y="4031589"/>
            <a:ext cx="313639" cy="108813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4851" y="4127601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16875" y="4127601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6175" y="3794760"/>
            <a:ext cx="268833" cy="307238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43773" y="4031589"/>
            <a:ext cx="313639" cy="108813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91779" y="4127601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83803" y="4127601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33104" y="3794760"/>
            <a:ext cx="268833" cy="307238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10701" y="4031589"/>
            <a:ext cx="313639" cy="108813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58707" y="4127601"/>
            <a:ext cx="35204" cy="960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0731" y="4127601"/>
            <a:ext cx="35204" cy="960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00032" y="3794760"/>
            <a:ext cx="268833" cy="307238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77629" y="4031589"/>
            <a:ext cx="313639" cy="108813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25635" y="4127601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17659" y="4127601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66960" y="3794760"/>
            <a:ext cx="268833" cy="307238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44557" y="4031589"/>
            <a:ext cx="313639" cy="108813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92563" y="4127601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84587" y="4127601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533888" y="3794760"/>
            <a:ext cx="268833" cy="307238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11485" y="4031589"/>
            <a:ext cx="313639" cy="108813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59491" y="4127601"/>
            <a:ext cx="35204" cy="960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751515" y="4127601"/>
            <a:ext cx="35204" cy="960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32320" y="4453128"/>
            <a:ext cx="268833" cy="307238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09917" y="4689957"/>
            <a:ext cx="313639" cy="108813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57923" y="4785969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49947" y="4785969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99248" y="4453128"/>
            <a:ext cx="268833" cy="307238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76845" y="4689957"/>
            <a:ext cx="313639" cy="108813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24851" y="4785969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16875" y="4785969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66175" y="4453128"/>
            <a:ext cx="268833" cy="307238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43773" y="4689957"/>
            <a:ext cx="313639" cy="108813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91779" y="4785969"/>
            <a:ext cx="35204" cy="960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83803" y="4785969"/>
            <a:ext cx="35204" cy="960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833104" y="4453128"/>
            <a:ext cx="268833" cy="307238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810701" y="4689957"/>
            <a:ext cx="313639" cy="108813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58707" y="4785969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0731" y="4785969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400032" y="4453128"/>
            <a:ext cx="268833" cy="307238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377629" y="4689957"/>
            <a:ext cx="313639" cy="108813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25635" y="4785969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17659" y="4785969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966960" y="4453128"/>
            <a:ext cx="268833" cy="307238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944557" y="4689957"/>
            <a:ext cx="313639" cy="108813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92563" y="4785969"/>
            <a:ext cx="35204" cy="960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184587" y="4785969"/>
            <a:ext cx="35204" cy="960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533888" y="4453128"/>
            <a:ext cx="268833" cy="307238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511485" y="4689957"/>
            <a:ext cx="313639" cy="108813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559491" y="4785969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751515" y="4785969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132320" y="5111496"/>
            <a:ext cx="268833" cy="307238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09917" y="5348325"/>
            <a:ext cx="313639" cy="108813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7923" y="5444337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49947" y="5444337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699248" y="5111496"/>
            <a:ext cx="268833" cy="307238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676845" y="5348325"/>
            <a:ext cx="313639" cy="108813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24851" y="5444337"/>
            <a:ext cx="35204" cy="960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16875" y="5444337"/>
            <a:ext cx="35204" cy="960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266175" y="5111496"/>
            <a:ext cx="268833" cy="307238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243773" y="5348325"/>
            <a:ext cx="313639" cy="108813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91779" y="5444337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483803" y="5444337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833104" y="5111496"/>
            <a:ext cx="268833" cy="307238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810701" y="5348325"/>
            <a:ext cx="313639" cy="108813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858707" y="5444337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050731" y="5444337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400032" y="5111496"/>
            <a:ext cx="268833" cy="307238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377629" y="5348325"/>
            <a:ext cx="313639" cy="108813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425635" y="5444337"/>
            <a:ext cx="35204" cy="960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17659" y="5444337"/>
            <a:ext cx="35204" cy="960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966960" y="5111496"/>
            <a:ext cx="268833" cy="307238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944557" y="5348325"/>
            <a:ext cx="313639" cy="108813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992563" y="5444337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184587" y="5444337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533888" y="5111496"/>
            <a:ext cx="268833" cy="307238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0511485" y="5348325"/>
            <a:ext cx="313639" cy="108813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559491" y="5444337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751515" y="5444337"/>
            <a:ext cx="35204" cy="9601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1520" y="731520"/>
            <a:ext cx="5394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2BEAA"/>
                </a:solidFill>
                <a:latin typeface="Aptos"/>
              </a:rPr>
              <a:t>JAVA PROGRAMMING PROJECT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" y="1325880"/>
            <a:ext cx="576072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6F8FC"/>
                </a:solidFill>
                <a:latin typeface="Aptos"/>
              </a:rPr>
              <a:t>Welcome to the
Cinema Seat Booking System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8096" y="2971800"/>
            <a:ext cx="53949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B4C2D7"/>
                </a:solidFill>
                <a:latin typeface="Aptos"/>
              </a:rPr>
              <a:t>A practical application of problem-solving, Java, OOP, collections and file handling.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77240" y="3977639"/>
            <a:ext cx="1280160" cy="310896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04672" y="3991355"/>
            <a:ext cx="1225295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B31"/>
                </a:solidFill>
                <a:latin typeface="Aptos"/>
              </a:rPr>
              <a:t>MODULES 1–6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176272" y="3977639"/>
            <a:ext cx="1234440" cy="310896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203703" y="3991355"/>
            <a:ext cx="1179576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B31"/>
                </a:solidFill>
                <a:latin typeface="Aptos"/>
              </a:rPr>
              <a:t>JAVA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529584" y="3977639"/>
            <a:ext cx="1645920" cy="310896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557015" y="3991355"/>
            <a:ext cx="1591056" cy="24688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B31"/>
                </a:solidFill>
                <a:latin typeface="Aptos"/>
              </a:rPr>
              <a:t>REAL-WORLD USE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7240" y="5989320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4C2D7"/>
                </a:solidFill>
                <a:latin typeface="Aptos"/>
              </a:rPr>
              <a:t>FOUNDATIONS • CONTROL FLOW • OOP • DATA • STREAMS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BEAA"/>
                </a:solidFill>
                <a:latin typeface="Aptos"/>
              </a:rPr>
              <a:t>MODULE 1 •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8FC"/>
                </a:solidFill>
                <a:latin typeface="Aptos"/>
              </a:rPr>
              <a:t>From problem to Java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2D7"/>
                </a:solidFill>
                <a:latin typeface="Aptos"/>
              </a:rPr>
              <a:t>Model the booking process before writing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960120" cy="41148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4C2D7"/>
                </a:solidFill>
                <a:latin typeface="Aptos"/>
              </a:rPr>
              <a:t>02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520440" cy="361188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75688"/>
            <a:ext cx="54864" cy="3392424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12264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1  Understand 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532888"/>
            <a:ext cx="3227832" cy="2971800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Inputs</a:t>
            </a:r>
            <a:r>
              <a:rPr sz="1200">
                <a:solidFill>
                  <a:srgbClr val="B4C2D7"/>
                </a:solidFill>
              </a:rPr>
              <a:t> — movie, customer, seat number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Rules</a:t>
            </a:r>
            <a:r>
              <a:rPr sz="1200">
                <a:solidFill>
                  <a:srgbClr val="B4C2D7"/>
                </a:solidFill>
              </a:rPr>
              <a:t> — seat must exist and be available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Outputs</a:t>
            </a:r>
            <a:r>
              <a:rPr sz="1200">
                <a:solidFill>
                  <a:srgbClr val="B4C2D7"/>
                </a:solidFill>
              </a:rPr>
              <a:t> — confirmation, price, updated status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Validation</a:t>
            </a:r>
            <a:r>
              <a:rPr sz="1200">
                <a:solidFill>
                  <a:srgbClr val="B4C2D7"/>
                </a:solidFill>
              </a:rPr>
              <a:t> — reject invalid or duplicate bookings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3520440" cy="361188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075688"/>
            <a:ext cx="54864" cy="339242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112264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2  Algorithm &amp; flowchart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532888"/>
            <a:ext cx="3227832" cy="2971800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Start → Input</a:t>
            </a:r>
            <a:r>
              <a:rPr sz="1200">
                <a:solidFill>
                  <a:srgbClr val="B4C2D7"/>
                </a:solidFill>
              </a:rPr>
              <a:t> — read movie and seat choice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Decision</a:t>
            </a:r>
            <a:r>
              <a:rPr sz="1200">
                <a:solidFill>
                  <a:srgbClr val="B4C2D7"/>
                </a:solidFill>
              </a:rPr>
              <a:t> — is the seat available?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Yes</a:t>
            </a:r>
            <a:r>
              <a:rPr sz="1200">
                <a:solidFill>
                  <a:srgbClr val="B4C2D7"/>
                </a:solidFill>
              </a:rPr>
              <a:t> — mark booked and show confirmation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No</a:t>
            </a:r>
            <a:r>
              <a:rPr sz="1200">
                <a:solidFill>
                  <a:srgbClr val="B4C2D7"/>
                </a:solidFill>
              </a:rPr>
              <a:t> — show message; choose another seat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End</a:t>
            </a:r>
            <a:r>
              <a:rPr sz="1200">
                <a:solidFill>
                  <a:srgbClr val="B4C2D7"/>
                </a:solidFill>
              </a:rPr>
              <a:t> — finish or return to menu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65960"/>
            <a:ext cx="3520440" cy="361188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75688"/>
            <a:ext cx="54864" cy="3392424"/>
          </a:xfrm>
          <a:prstGeom prst="rect">
            <a:avLst/>
          </a:prstGeom>
          <a:solidFill>
            <a:srgbClr val="5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12264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3  Java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532888"/>
            <a:ext cx="3227832" cy="2971800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JDK</a:t>
            </a:r>
            <a:r>
              <a:rPr sz="1200">
                <a:solidFill>
                  <a:srgbClr val="B4C2D7"/>
                </a:solidFill>
              </a:rPr>
              <a:t> — tools to compile and run Java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JVM</a:t>
            </a:r>
            <a:r>
              <a:rPr sz="1200">
                <a:solidFill>
                  <a:srgbClr val="B4C2D7"/>
                </a:solidFill>
              </a:rPr>
              <a:t> — executes Java bytecode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Source file</a:t>
            </a:r>
            <a:r>
              <a:rPr sz="1200">
                <a:solidFill>
                  <a:srgbClr val="B4C2D7"/>
                </a:solidFill>
              </a:rPr>
              <a:t> — CinemaBooking.java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Compile</a:t>
            </a:r>
            <a:r>
              <a:rPr sz="1200">
                <a:solidFill>
                  <a:srgbClr val="B4C2D7"/>
                </a:solidFill>
              </a:rPr>
              <a:t> — javac CinemaBooking.java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Run</a:t>
            </a:r>
            <a:r>
              <a:rPr sz="1200">
                <a:solidFill>
                  <a:srgbClr val="B4C2D7"/>
                </a:solidFill>
              </a:rPr>
              <a:t> — java CinemaBooking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BE5C"/>
                </a:solidFill>
                <a:latin typeface="Aptos"/>
              </a:rPr>
              <a:t>Core idea: define the inputs, rules, decisions and expected output before coding.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BEAA"/>
                </a:solidFill>
                <a:latin typeface="Aptos"/>
              </a:rPr>
              <a:t>MODULE 1 • JAVA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8FC"/>
                </a:solidFill>
                <a:latin typeface="Aptos"/>
              </a:rPr>
              <a:t>Java building blocks in the booking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2D7"/>
                </a:solidFill>
                <a:latin typeface="Aptos"/>
              </a:rPr>
              <a:t>Structure, data representation and expression 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960120" cy="41148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4C2D7"/>
                </a:solidFill>
                <a:latin typeface="Aptos"/>
              </a:rPr>
              <a:t>03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3657600" cy="379476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48256"/>
            <a:ext cx="54864" cy="3575304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84832"/>
            <a:ext cx="3337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Program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505456"/>
            <a:ext cx="3364992" cy="3154680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class CinemaBooking</a:t>
            </a:r>
            <a:r>
              <a:rPr sz="1100">
                <a:solidFill>
                  <a:srgbClr val="B4C2D7"/>
                </a:solidFill>
              </a:rPr>
              <a:t> — defines the program blueprint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main(String[] args)</a:t>
            </a:r>
            <a:r>
              <a:rPr sz="1100">
                <a:solidFill>
                  <a:srgbClr val="B4C2D7"/>
                </a:solidFill>
              </a:rPr>
              <a:t> — program entry point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Statements</a:t>
            </a:r>
            <a:r>
              <a:rPr sz="1100">
                <a:solidFill>
                  <a:srgbClr val="B4C2D7"/>
                </a:solidFill>
              </a:rPr>
              <a:t> — input → validate → calculate → display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Methods</a:t>
            </a:r>
            <a:r>
              <a:rPr sz="1100">
                <a:solidFill>
                  <a:srgbClr val="B4C2D7"/>
                </a:solidFill>
              </a:rPr>
              <a:t> — separate booking, pricing and display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938528"/>
            <a:ext cx="3337560" cy="379476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048256"/>
            <a:ext cx="54864" cy="357530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84832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Types &amp; identifiers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505456"/>
            <a:ext cx="3044952" cy="3154680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int seatNo</a:t>
            </a:r>
            <a:r>
              <a:rPr sz="1100">
                <a:solidFill>
                  <a:srgbClr val="B4C2D7"/>
                </a:solidFill>
              </a:rPr>
              <a:t> — whole-number seat identifier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double price</a:t>
            </a:r>
            <a:r>
              <a:rPr sz="1100">
                <a:solidFill>
                  <a:srgbClr val="B4C2D7"/>
                </a:solidFill>
              </a:rPr>
              <a:t> — ticket cost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boolean booked</a:t>
            </a:r>
            <a:r>
              <a:rPr sz="1100">
                <a:solidFill>
                  <a:srgbClr val="B4C2D7"/>
                </a:solidFill>
              </a:rPr>
              <a:t> — available or occupied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String customer</a:t>
            </a:r>
            <a:r>
              <a:rPr sz="1100">
                <a:solidFill>
                  <a:srgbClr val="B4C2D7"/>
                </a:solidFill>
              </a:rPr>
              <a:t> — customer name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final double TAX</a:t>
            </a:r>
            <a:r>
              <a:rPr sz="1100">
                <a:solidFill>
                  <a:srgbClr val="B4C2D7"/>
                </a:solidFill>
              </a:rPr>
              <a:t> — constant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938528"/>
            <a:ext cx="3520440" cy="379476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048256"/>
            <a:ext cx="54864" cy="3575304"/>
          </a:xfrm>
          <a:prstGeom prst="rect">
            <a:avLst/>
          </a:prstGeom>
          <a:solidFill>
            <a:srgbClr val="5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208483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Operators &amp; input/output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505456"/>
            <a:ext cx="3227832" cy="3154680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Arithmetic</a:t>
            </a:r>
            <a:r>
              <a:rPr sz="1000">
                <a:solidFill>
                  <a:srgbClr val="B4C2D7"/>
                </a:solidFill>
              </a:rPr>
              <a:t> — +, -, *, /, %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Comparison / logic</a:t>
            </a:r>
            <a:r>
              <a:rPr sz="1000">
                <a:solidFill>
                  <a:srgbClr val="B4C2D7"/>
                </a:solidFill>
              </a:rPr>
              <a:t> — ==, &lt;, &amp;&amp;, ||, !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Assignment / unary</a:t>
            </a:r>
            <a:r>
              <a:rPr sz="1000">
                <a:solidFill>
                  <a:srgbClr val="B4C2D7"/>
                </a:solidFill>
              </a:rPr>
              <a:t> — =, +=, ++, --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Ternary / bitwise</a:t>
            </a:r>
            <a:r>
              <a:rPr sz="1000">
                <a:solidFill>
                  <a:srgbClr val="B4C2D7"/>
                </a:solidFill>
              </a:rPr>
              <a:t> — condition ? a : b; &amp;, |, ^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Casting &amp; precedence</a:t>
            </a:r>
            <a:r>
              <a:rPr sz="1000">
                <a:solidFill>
                  <a:srgbClr val="B4C2D7"/>
                </a:solidFill>
              </a:rPr>
              <a:t> — (int) price; parentheses clarify order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Scanner / printf</a:t>
            </a:r>
            <a:r>
              <a:rPr sz="1000">
                <a:solidFill>
                  <a:srgbClr val="B4C2D7"/>
                </a:solidFill>
              </a:rPr>
              <a:t> — read input; format receipts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881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BE5C"/>
                </a:solidFill>
                <a:latin typeface="Aptos"/>
              </a:rPr>
              <a:t>Example: double total = ticketPrice * ticketCount;  System.out.printf("Total: ₹%.2f%n", total);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BEAA"/>
                </a:solidFill>
                <a:latin typeface="Aptos"/>
              </a:rPr>
              <a:t>MODULE 2 • CONTROL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8FC"/>
                </a:solidFill>
                <a:latin typeface="Aptos"/>
              </a:rPr>
              <a:t>Decisions and loops drive the booking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2D7"/>
                </a:solidFill>
                <a:latin typeface="Aptos"/>
              </a:rPr>
              <a:t>Choose actions, validate seats and repeat until the user exits.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960120" cy="41148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4C2D7"/>
                </a:solidFill>
                <a:latin typeface="Aptos"/>
              </a:rPr>
              <a:t>04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520440" cy="361188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75688"/>
            <a:ext cx="54864" cy="3392424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12264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532888"/>
            <a:ext cx="3227832" cy="2971800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if / if–else</a:t>
            </a:r>
            <a:r>
              <a:rPr sz="1200">
                <a:solidFill>
                  <a:srgbClr val="B4C2D7"/>
                </a:solidFill>
              </a:rPr>
              <a:t> — check whether a seat is available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nested if / ladder</a:t>
            </a:r>
            <a:r>
              <a:rPr sz="1200">
                <a:solidFill>
                  <a:srgbClr val="B4C2D7"/>
                </a:solidFill>
              </a:rPr>
              <a:t> — validate seat, then booking option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switch</a:t>
            </a:r>
            <a:r>
              <a:rPr sz="1200">
                <a:solidFill>
                  <a:srgbClr val="B4C2D7"/>
                </a:solidFill>
              </a:rPr>
              <a:t> — 1 Book • 2 Cancel • 3 View • 0 Exit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break / default</a:t>
            </a:r>
            <a:r>
              <a:rPr sz="1200">
                <a:solidFill>
                  <a:srgbClr val="B4C2D7"/>
                </a:solidFill>
              </a:rPr>
              <a:t> — leave a case; handle unknown choices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3520440" cy="361188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075688"/>
            <a:ext cx="54864" cy="339242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112264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Iteration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532888"/>
            <a:ext cx="3227832" cy="2971800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while</a:t>
            </a:r>
            <a:r>
              <a:rPr sz="1200">
                <a:solidFill>
                  <a:srgbClr val="B4C2D7"/>
                </a:solidFill>
              </a:rPr>
              <a:t> — repeat menu until exit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do–while</a:t>
            </a:r>
            <a:r>
              <a:rPr sz="1200">
                <a:solidFill>
                  <a:srgbClr val="B4C2D7"/>
                </a:solidFill>
              </a:rPr>
              <a:t> — show menu at least once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for</a:t>
            </a:r>
            <a:r>
              <a:rPr sz="1200">
                <a:solidFill>
                  <a:srgbClr val="B4C2D7"/>
                </a:solidFill>
              </a:rPr>
              <a:t> — visit every seat in a row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nested loops</a:t>
            </a:r>
            <a:r>
              <a:rPr sz="1200">
                <a:solidFill>
                  <a:srgbClr val="B4C2D7"/>
                </a:solidFill>
              </a:rPr>
              <a:t> — display a row-and-column seat 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65960"/>
            <a:ext cx="3520440" cy="361188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75688"/>
            <a:ext cx="54864" cy="3392424"/>
          </a:xfrm>
          <a:prstGeom prst="rect">
            <a:avLst/>
          </a:prstGeom>
          <a:solidFill>
            <a:srgbClr val="5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12264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Control safeguards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532888"/>
            <a:ext cx="3227832" cy="2971800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continue</a:t>
            </a:r>
            <a:r>
              <a:rPr sz="1200">
                <a:solidFill>
                  <a:srgbClr val="B4C2D7"/>
                </a:solidFill>
              </a:rPr>
              <a:t> — skip invalid seat entries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Compound blocks</a:t>
            </a:r>
            <a:r>
              <a:rPr sz="1200">
                <a:solidFill>
                  <a:srgbClr val="B4C2D7"/>
                </a:solidFill>
              </a:rPr>
              <a:t> — group statements with { }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Infinite loops</a:t>
            </a:r>
            <a:r>
              <a:rPr sz="1200">
                <a:solidFill>
                  <a:srgbClr val="B4C2D7"/>
                </a:solidFill>
              </a:rPr>
              <a:t> — avoid missing exit/update logic</a:t>
            </a:r>
          </a:p>
          <a:p>
            <a:pPr>
              <a:spcAft>
                <a:spcPts val="400"/>
              </a:spcAft>
              <a:defRPr sz="13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300">
                <a:solidFill>
                  <a:srgbClr val="F6F8FC"/>
                </a:solidFill>
              </a:rPr>
              <a:t>Validation</a:t>
            </a:r>
            <a:r>
              <a:rPr sz="1200">
                <a:solidFill>
                  <a:srgbClr val="B4C2D7"/>
                </a:solidFill>
              </a:rPr>
              <a:t> — seat number within allowed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BE5C"/>
                </a:solidFill>
                <a:latin typeface="Aptos"/>
              </a:rPr>
              <a:t>Example condition: if (seatNo &gt;= 1 &amp;&amp; seatNo &lt;= totalSeats &amp;&amp; !booked[seatNo - 1])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BEAA"/>
                </a:solidFill>
                <a:latin typeface="Aptos"/>
              </a:rPr>
              <a:t>MODULE 3 • METHODS &amp;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8FC"/>
                </a:solidFill>
                <a:latin typeface="Aptos"/>
              </a:rPr>
              <a:t>Break the system into reusable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2D7"/>
                </a:solidFill>
                <a:latin typeface="Aptos"/>
              </a:rPr>
              <a:t>Modular design keeps booking logic easier to test and maintain.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960120" cy="41148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4C2D7"/>
                </a:solidFill>
                <a:latin typeface="Aptos"/>
              </a:rPr>
              <a:t>05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3520440" cy="370332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48256"/>
            <a:ext cx="54864" cy="3483863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8483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505456"/>
            <a:ext cx="3227832" cy="3063239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bookSeat(int seatNo)</a:t>
            </a:r>
            <a:r>
              <a:rPr sz="1100">
                <a:solidFill>
                  <a:srgbClr val="B4C2D7"/>
                </a:solidFill>
              </a:rPr>
              <a:t> — parameter passes seat choice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boolean isAvailable(...)</a:t>
            </a:r>
            <a:r>
              <a:rPr sz="1100">
                <a:solidFill>
                  <a:srgbClr val="B4C2D7"/>
                </a:solidFill>
              </a:rPr>
              <a:t> — returns a true/false result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Overloading</a:t>
            </a:r>
            <a:r>
              <a:rPr sz="1100">
                <a:solidFill>
                  <a:srgbClr val="B4C2D7"/>
                </a:solidFill>
              </a:rPr>
              <a:t> — same name, different parameter list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Pass-by-value</a:t>
            </a:r>
            <a:r>
              <a:rPr sz="1100">
                <a:solidFill>
                  <a:srgbClr val="B4C2D7"/>
                </a:solidFill>
              </a:rPr>
              <a:t> — Java passes argument values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Recursion</a:t>
            </a:r>
            <a:r>
              <a:rPr sz="1100">
                <a:solidFill>
                  <a:srgbClr val="B4C2D7"/>
                </a:solidFill>
              </a:rPr>
              <a:t> — base case stops repeated 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38528"/>
            <a:ext cx="3520440" cy="370332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048256"/>
            <a:ext cx="54864" cy="3483863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8483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1D arrays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505456"/>
            <a:ext cx="3227832" cy="3063239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boolean[] booked</a:t>
            </a:r>
            <a:r>
              <a:rPr sz="1100">
                <a:solidFill>
                  <a:srgbClr val="B4C2D7"/>
                </a:solidFill>
              </a:rPr>
              <a:t> — one status per seat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Traversal</a:t>
            </a:r>
            <a:r>
              <a:rPr sz="1100">
                <a:solidFill>
                  <a:srgbClr val="B4C2D7"/>
                </a:solidFill>
              </a:rPr>
              <a:t> — visit all seat positions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Counting</a:t>
            </a:r>
            <a:r>
              <a:rPr sz="1100">
                <a:solidFill>
                  <a:srgbClr val="B4C2D7"/>
                </a:solidFill>
              </a:rPr>
              <a:t> — count booked and free seats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Sum / average</a:t>
            </a:r>
            <a:r>
              <a:rPr sz="1100">
                <a:solidFill>
                  <a:srgbClr val="B4C2D7"/>
                </a:solidFill>
              </a:rPr>
              <a:t> — calculate revenue or average price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Search</a:t>
            </a:r>
            <a:r>
              <a:rPr sz="1100">
                <a:solidFill>
                  <a:srgbClr val="B4C2D7"/>
                </a:solidFill>
              </a:rPr>
              <a:t> — find a seat or booking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38528"/>
            <a:ext cx="3520440" cy="370332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48256"/>
            <a:ext cx="54864" cy="3483863"/>
          </a:xfrm>
          <a:prstGeom prst="rect">
            <a:avLst/>
          </a:prstGeom>
          <a:solidFill>
            <a:srgbClr val="5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8483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2D arrays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505456"/>
            <a:ext cx="3227832" cy="3063239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boolean[][] seats</a:t>
            </a:r>
            <a:r>
              <a:rPr sz="1100">
                <a:solidFill>
                  <a:srgbClr val="B4C2D7"/>
                </a:solidFill>
              </a:rPr>
              <a:t> — rows × seats per row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Nested loops</a:t>
            </a:r>
            <a:r>
              <a:rPr sz="1100">
                <a:solidFill>
                  <a:srgbClr val="B4C2D7"/>
                </a:solidFill>
              </a:rPr>
              <a:t> — display the seat map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Indexing</a:t>
            </a:r>
            <a:r>
              <a:rPr sz="1100">
                <a:solidFill>
                  <a:srgbClr val="B4C2D7"/>
                </a:solidFill>
              </a:rPr>
              <a:t> — seats[row][column]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Matrix arithmetic</a:t>
            </a:r>
            <a:r>
              <a:rPr sz="1100">
                <a:solidFill>
                  <a:srgbClr val="B4C2D7"/>
                </a:solidFill>
              </a:rPr>
              <a:t> — practice with numeric grids</a:t>
            </a:r>
          </a:p>
          <a:p>
            <a:pPr>
              <a:spcAft>
                <a:spcPts val="400"/>
              </a:spcAft>
              <a:defRPr sz="12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200">
                <a:solidFill>
                  <a:srgbClr val="F6F8FC"/>
                </a:solidFill>
              </a:rPr>
              <a:t>Enhanced for</a:t>
            </a:r>
            <a:r>
              <a:rPr sz="1100">
                <a:solidFill>
                  <a:srgbClr val="B4C2D7"/>
                </a:solidFill>
              </a:rPr>
              <a:t> — read values simply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BE5C"/>
                </a:solidFill>
                <a:latin typeface="Aptos"/>
              </a:rPr>
              <a:t>Design principle: one method should have one clear responsibility.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BEAA"/>
                </a:solidFill>
                <a:latin typeface="Aptos"/>
              </a:rPr>
              <a:t>MODULE 4 • OBJECT-ORIENTED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8FC"/>
                </a:solidFill>
                <a:latin typeface="Aptos"/>
              </a:rPr>
              <a:t>Represent real cinema entities as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2D7"/>
                </a:solidFill>
                <a:latin typeface="Aptos"/>
              </a:rPr>
              <a:t>Classes model concepts; objects hold the data for individual bookings.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960120" cy="41148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4C2D7"/>
                </a:solidFill>
                <a:latin typeface="Aptos"/>
              </a:rPr>
              <a:t>06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3520440" cy="3749039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48256"/>
            <a:ext cx="54864" cy="3529583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8483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Classes &amp; constructors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505456"/>
            <a:ext cx="3227832" cy="3108959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Seat / Booking / Movie</a:t>
            </a:r>
            <a:r>
              <a:rPr sz="1000">
                <a:solidFill>
                  <a:srgbClr val="B4C2D7"/>
                </a:solidFill>
              </a:rPr>
              <a:t> — class = blueprint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new Booking(...)</a:t>
            </a:r>
            <a:r>
              <a:rPr sz="1000">
                <a:solidFill>
                  <a:srgbClr val="B4C2D7"/>
                </a:solidFill>
              </a:rPr>
              <a:t> — creates an object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Constructors</a:t>
            </a:r>
            <a:r>
              <a:rPr sz="1000">
                <a:solidFill>
                  <a:srgbClr val="B4C2D7"/>
                </a:solidFill>
              </a:rPr>
              <a:t> — default or parameterized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Overloading &amp; this</a:t>
            </a:r>
            <a:r>
              <a:rPr sz="1000">
                <a:solidFill>
                  <a:srgbClr val="B4C2D7"/>
                </a:solidFill>
              </a:rPr>
              <a:t> — initialize in different ways; refer to current object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null</a:t>
            </a:r>
            <a:r>
              <a:rPr sz="1000">
                <a:solidFill>
                  <a:srgbClr val="B4C2D7"/>
                </a:solidFill>
              </a:rPr>
              <a:t> — reference points to no object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38528"/>
            <a:ext cx="3520440" cy="3749039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048256"/>
            <a:ext cx="54864" cy="3529583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8483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Encapsulation &amp;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505456"/>
            <a:ext cx="3227832" cy="3108959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private fields</a:t>
            </a:r>
            <a:r>
              <a:rPr sz="1000">
                <a:solidFill>
                  <a:srgbClr val="B4C2D7"/>
                </a:solidFill>
              </a:rPr>
              <a:t> — hide internal state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getters / setters</a:t>
            </a:r>
            <a:r>
              <a:rPr sz="1000">
                <a:solidFill>
                  <a:srgbClr val="B4C2D7"/>
                </a:solidFill>
              </a:rPr>
              <a:t> — controlled access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instance members</a:t>
            </a:r>
            <a:r>
              <a:rPr sz="1000">
                <a:solidFill>
                  <a:srgbClr val="B4C2D7"/>
                </a:solidFill>
              </a:rPr>
              <a:t> — belong to each object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static members</a:t>
            </a:r>
            <a:r>
              <a:rPr sz="1000">
                <a:solidFill>
                  <a:srgbClr val="B4C2D7"/>
                </a:solidFill>
              </a:rPr>
              <a:t> — shared by the class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final constants / toString()</a:t>
            </a:r>
            <a:r>
              <a:rPr sz="1000">
                <a:solidFill>
                  <a:srgbClr val="B4C2D7"/>
                </a:solidFill>
              </a:rPr>
              <a:t> — fixed values; readable object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38528"/>
            <a:ext cx="3520440" cy="3749039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48256"/>
            <a:ext cx="54864" cy="3529583"/>
          </a:xfrm>
          <a:prstGeom prst="rect">
            <a:avLst/>
          </a:prstGeom>
          <a:solidFill>
            <a:srgbClr val="5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8483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Inheritance &amp; interfaces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505456"/>
            <a:ext cx="3227832" cy="3108959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is-a relationship</a:t>
            </a:r>
            <a:r>
              <a:rPr sz="1000">
                <a:solidFill>
                  <a:srgbClr val="B4C2D7"/>
                </a:solidFill>
              </a:rPr>
              <a:t> — PremiumSeat is a Seat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Overriding</a:t>
            </a:r>
            <a:r>
              <a:rPr sz="1000">
                <a:solidFill>
                  <a:srgbClr val="B4C2D7"/>
                </a:solidFill>
              </a:rPr>
              <a:t> — subclass provides its behavior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Interfaces</a:t>
            </a:r>
            <a:r>
              <a:rPr sz="1000">
                <a:solidFill>
                  <a:srgbClr val="B4C2D7"/>
                </a:solidFill>
              </a:rPr>
              <a:t> — shared behavior contract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Program to interface</a:t>
            </a:r>
            <a:r>
              <a:rPr sz="1000">
                <a:solidFill>
                  <a:srgbClr val="B4C2D7"/>
                </a:solidFill>
              </a:rPr>
              <a:t> — depend on an abstraction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Exception handling</a:t>
            </a:r>
            <a:r>
              <a:rPr sz="1000">
                <a:solidFill>
                  <a:srgbClr val="B4C2D7"/>
                </a:solidFill>
              </a:rPr>
              <a:t> — respond to invalid input or file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25312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BE5C"/>
                </a:solidFill>
                <a:latin typeface="Aptos"/>
              </a:rPr>
              <a:t>OOP pillars: encapsulation • inheritance • polymorphism • abstraction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BEAA"/>
                </a:solidFill>
                <a:latin typeface="Aptos"/>
              </a:rPr>
              <a:t>MODULE 5 • STRINGS &amp; FILE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8FC"/>
                </a:solidFill>
                <a:latin typeface="Aptos"/>
              </a:rPr>
              <a:t>Manage names, records and booking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2D7"/>
                </a:solidFill>
                <a:latin typeface="Aptos"/>
              </a:rPr>
              <a:t>Use Java libraries for reliable text processing and persistence.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960120" cy="41148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4C2D7"/>
                </a:solidFill>
                <a:latin typeface="Aptos"/>
              </a:rPr>
              <a:t>07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3520440" cy="3767328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48256"/>
            <a:ext cx="54864" cy="3547872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8483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String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505456"/>
            <a:ext cx="3227832" cy="3127248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String is immutable</a:t>
            </a:r>
            <a:r>
              <a:rPr sz="1000">
                <a:solidFill>
                  <a:srgbClr val="B4C2D7"/>
                </a:solidFill>
              </a:rPr>
              <a:t> — operations create new strings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length / substring</a:t>
            </a:r>
            <a:r>
              <a:rPr sz="1000">
                <a:solidFill>
                  <a:srgbClr val="B4C2D7"/>
                </a:solidFill>
              </a:rPr>
              <a:t> — inspect names and codes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equals() vs ==</a:t>
            </a:r>
            <a:r>
              <a:rPr sz="1000">
                <a:solidFill>
                  <a:srgbClr val="B4C2D7"/>
                </a:solidFill>
              </a:rPr>
              <a:t> — content vs reference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split / join / trim</a:t>
            </a:r>
            <a:r>
              <a:rPr sz="1000">
                <a:solidFill>
                  <a:srgbClr val="B4C2D7"/>
                </a:solidFill>
              </a:rPr>
              <a:t> — parse and clean records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StringBuilder</a:t>
            </a:r>
            <a:r>
              <a:rPr sz="1000">
                <a:solidFill>
                  <a:srgbClr val="B4C2D7"/>
                </a:solidFill>
              </a:rPr>
              <a:t> — efficient repeated text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38528"/>
            <a:ext cx="3520440" cy="3767328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048256"/>
            <a:ext cx="54864" cy="354787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8483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Search &amp; ordering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505456"/>
            <a:ext cx="3227832" cy="3127248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Arrays.sort()</a:t>
            </a:r>
            <a:r>
              <a:rPr sz="1000">
                <a:solidFill>
                  <a:srgbClr val="B4C2D7"/>
                </a:solidFill>
              </a:rPr>
              <a:t> — sort arrays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Collections.sort()</a:t>
            </a:r>
            <a:r>
              <a:rPr sz="1000">
                <a:solidFill>
                  <a:srgbClr val="B4C2D7"/>
                </a:solidFill>
              </a:rPr>
              <a:t> — sort lists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Arrays.binarySearch()</a:t>
            </a:r>
            <a:r>
              <a:rPr sz="1000">
                <a:solidFill>
                  <a:srgbClr val="B4C2D7"/>
                </a:solidFill>
              </a:rPr>
              <a:t> — search a sorted array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Comparable / Comparator</a:t>
            </a:r>
            <a:r>
              <a:rPr sz="1000">
                <a:solidFill>
                  <a:srgbClr val="B4C2D7"/>
                </a:solidFill>
              </a:rPr>
              <a:t> — define object ordering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Validation</a:t>
            </a:r>
            <a:r>
              <a:rPr sz="1000">
                <a:solidFill>
                  <a:srgbClr val="B4C2D7"/>
                </a:solidFill>
              </a:rPr>
              <a:t> — check record fields before 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38528"/>
            <a:ext cx="3520440" cy="3767328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48256"/>
            <a:ext cx="54864" cy="3547872"/>
          </a:xfrm>
          <a:prstGeom prst="rect">
            <a:avLst/>
          </a:prstGeom>
          <a:solidFill>
            <a:srgbClr val="5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8483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File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505456"/>
            <a:ext cx="3227832" cy="3127248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Path / Files</a:t>
            </a:r>
            <a:r>
              <a:rPr sz="1000">
                <a:solidFill>
                  <a:srgbClr val="B4C2D7"/>
                </a:solidFill>
              </a:rPr>
              <a:t> — modern file APIs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BufferedReader/Writer</a:t>
            </a:r>
            <a:r>
              <a:rPr sz="1000">
                <a:solidFill>
                  <a:srgbClr val="B4C2D7"/>
                </a:solidFill>
              </a:rPr>
              <a:t> — read/write text efficiently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Append</a:t>
            </a:r>
            <a:r>
              <a:rPr sz="1000">
                <a:solidFill>
                  <a:srgbClr val="B4C2D7"/>
                </a:solidFill>
              </a:rPr>
              <a:t> — add booking history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try-with-resources</a:t>
            </a:r>
            <a:r>
              <a:rPr sz="1000">
                <a:solidFill>
                  <a:srgbClr val="B4C2D7"/>
                </a:solidFill>
              </a:rPr>
              <a:t> — close files automatically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try/catch/finally</a:t>
            </a:r>
            <a:r>
              <a:rPr sz="1000">
                <a:solidFill>
                  <a:srgbClr val="B4C2D7"/>
                </a:solidFill>
              </a:rPr>
              <a:t> — handle missing or malformed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25312"/>
            <a:ext cx="10881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BE5C"/>
                </a:solidFill>
                <a:latin typeface="Aptos"/>
              </a:rPr>
              <a:t>Example record: "BKG102,Amrutha,Row2-Seat5,250.00"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BEAA"/>
                </a:solidFill>
                <a:latin typeface="Aptos"/>
              </a:rPr>
              <a:t>MODULE 6 • COLLECTIONS &amp;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8FC"/>
                </a:solidFill>
                <a:latin typeface="Aptos"/>
              </a:rPr>
              <a:t>Store, find and summarize bookings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2D7"/>
                </a:solidFill>
                <a:latin typeface="Aptos"/>
              </a:rPr>
              <a:t>Collections manage groups of data; streams express processing steps clearly.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960120" cy="41148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4C2D7"/>
                </a:solidFill>
                <a:latin typeface="Aptos"/>
              </a:rPr>
              <a:t>08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3520440" cy="3749039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48256"/>
            <a:ext cx="54864" cy="3529583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8483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Collections &amp; generics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505456"/>
            <a:ext cx="3227832" cy="3108959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ArrayList&lt;Booking&gt;</a:t>
            </a:r>
            <a:r>
              <a:rPr sz="1000">
                <a:solidFill>
                  <a:srgbClr val="B4C2D7"/>
                </a:solidFill>
              </a:rPr>
              <a:t> — ordered list of bookings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HashMap&lt;String, Booking&gt;</a:t>
            </a:r>
            <a:r>
              <a:rPr sz="1000">
                <a:solidFill>
                  <a:srgbClr val="B4C2D7"/>
                </a:solidFill>
              </a:rPr>
              <a:t> — lookup by booking ID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HashSet&lt;Integer&gt;</a:t>
            </a:r>
            <a:r>
              <a:rPr sz="1000">
                <a:solidFill>
                  <a:srgbClr val="B4C2D7"/>
                </a:solidFill>
              </a:rPr>
              <a:t> — unique booked seat numbers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TreeMap / TreeSet</a:t>
            </a:r>
            <a:r>
              <a:rPr sz="1000">
                <a:solidFill>
                  <a:srgbClr val="B4C2D7"/>
                </a:solidFill>
              </a:rPr>
              <a:t> — sorted keys or values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Generics &amp; autoboxing</a:t>
            </a:r>
            <a:r>
              <a:rPr sz="1000">
                <a:solidFill>
                  <a:srgbClr val="B4C2D7"/>
                </a:solidFill>
              </a:rPr>
              <a:t> — type safety; primitives wrapped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38528"/>
            <a:ext cx="3520440" cy="3749039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048256"/>
            <a:ext cx="54864" cy="3529583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8483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Lambdas &amp; interfaces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505456"/>
            <a:ext cx="3227832" cy="3108959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Predicate&lt;T&gt;</a:t>
            </a:r>
            <a:r>
              <a:rPr sz="1000">
                <a:solidFill>
                  <a:srgbClr val="B4C2D7"/>
                </a:solidFill>
              </a:rPr>
              <a:t> — tests a condition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Function&lt;T,R&gt;</a:t>
            </a:r>
            <a:r>
              <a:rPr sz="1000">
                <a:solidFill>
                  <a:srgbClr val="B4C2D7"/>
                </a:solidFill>
              </a:rPr>
              <a:t> — transforms a value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Consumer&lt;T&gt;</a:t>
            </a:r>
            <a:r>
              <a:rPr sz="1000">
                <a:solidFill>
                  <a:srgbClr val="B4C2D7"/>
                </a:solidFill>
              </a:rPr>
              <a:t> — uses a value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Supplier&lt;T&gt;</a:t>
            </a:r>
            <a:r>
              <a:rPr sz="1000">
                <a:solidFill>
                  <a:srgbClr val="B4C2D7"/>
                </a:solidFill>
              </a:rPr>
              <a:t> — provides a value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Comparator&lt;T&gt;</a:t>
            </a:r>
            <a:r>
              <a:rPr sz="1000">
                <a:solidFill>
                  <a:srgbClr val="B4C2D7"/>
                </a:solidFill>
              </a:rPr>
              <a:t> — defines sorting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38528"/>
            <a:ext cx="3520440" cy="3749039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48256"/>
            <a:ext cx="54864" cy="3529583"/>
          </a:xfrm>
          <a:prstGeom prst="rect">
            <a:avLst/>
          </a:prstGeom>
          <a:solidFill>
            <a:srgbClr val="5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84832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8FC"/>
                </a:solidFill>
                <a:latin typeface="Aptos"/>
              </a:rPr>
              <a:t>Stream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505456"/>
            <a:ext cx="3227832" cy="3108959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filter / map</a:t>
            </a:r>
            <a:r>
              <a:rPr sz="1000">
                <a:solidFill>
                  <a:srgbClr val="B4C2D7"/>
                </a:solidFill>
              </a:rPr>
              <a:t> — select and transform records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sorted / distinct</a:t>
            </a:r>
            <a:r>
              <a:rPr sz="1000">
                <a:solidFill>
                  <a:srgbClr val="B4C2D7"/>
                </a:solidFill>
              </a:rPr>
              <a:t> — order and remove duplicates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limit</a:t>
            </a:r>
            <a:r>
              <a:rPr sz="1000">
                <a:solidFill>
                  <a:srgbClr val="B4C2D7"/>
                </a:solidFill>
              </a:rPr>
              <a:t> — take first results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count / collect / reduce</a:t>
            </a:r>
            <a:r>
              <a:rPr sz="1000">
                <a:solidFill>
                  <a:srgbClr val="B4C2D7"/>
                </a:solidFill>
              </a:rPr>
              <a:t> — summarize or build results</a:t>
            </a:r>
          </a:p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5DA3FF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Collectors</a:t>
            </a:r>
            <a:r>
              <a:rPr sz="1000">
                <a:solidFill>
                  <a:srgbClr val="B4C2D7"/>
                </a:solidFill>
              </a:rPr>
              <a:t> — groupingBy, counting, joining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25312"/>
            <a:ext cx="10881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BE5C"/>
                </a:solidFill>
                <a:latin typeface="Aptos"/>
              </a:rPr>
              <a:t>Example: bookings.stream().filter(b -&gt; b.isConfirmed()).count();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BEAA"/>
                </a:solidFill>
                <a:latin typeface="Aptos"/>
              </a:rPr>
              <a:t>SYSTEM DESIGN • PUTTING MODULES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8FC"/>
                </a:solidFill>
                <a:latin typeface="Aptos"/>
              </a:rPr>
              <a:t>End-to-end booking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2D7"/>
                </a:solidFill>
                <a:latin typeface="Aptos"/>
              </a:rPr>
              <a:t>A single user action can connect every major Java concept.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960120" cy="41148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B4C2D7"/>
                </a:solidFill>
                <a:latin typeface="Aptos"/>
              </a:rPr>
              <a:t>09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1490472" cy="233172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313432"/>
            <a:ext cx="127101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BE5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127101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BEAA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246120"/>
            <a:ext cx="1271016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6F8FC"/>
                </a:solidFill>
                <a:latin typeface="Aptos"/>
              </a:rPr>
              <a:t>Scanner reads movie, name and seat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3154680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BE5C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9152" y="2148840"/>
            <a:ext cx="1490472" cy="233172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313432"/>
            <a:ext cx="127101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BE5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743200"/>
            <a:ext cx="127101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BEAA"/>
                </a:solidFill>
                <a:latin typeface="Aptos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246120"/>
            <a:ext cx="1271016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6F8FC"/>
                </a:solidFill>
                <a:latin typeface="Aptos"/>
              </a:rPr>
              <a:t>if/switch checks menu and seat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6" y="3154680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BE5C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32504" y="2148840"/>
            <a:ext cx="1490472" cy="233172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2232" y="2313432"/>
            <a:ext cx="127101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BE5C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2232" y="2743200"/>
            <a:ext cx="127101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BEAA"/>
                </a:solidFill>
                <a:latin typeface="Aptos"/>
              </a:rP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2" y="3246120"/>
            <a:ext cx="1271016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6F8FC"/>
                </a:solidFill>
                <a:latin typeface="Aptos"/>
              </a:rPr>
              <a:t>methods and arrays update 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3154680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BE5C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05855" y="2148840"/>
            <a:ext cx="1490472" cy="233172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5583" y="2313432"/>
            <a:ext cx="127101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BE5C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3" y="2743200"/>
            <a:ext cx="127101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BEAA"/>
                </a:solidFill>
                <a:latin typeface="Aptos"/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5583" y="3246120"/>
            <a:ext cx="1271016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6F8FC"/>
                </a:solidFill>
                <a:latin typeface="Aptos"/>
              </a:rPr>
              <a:t>Booking and Seat objects encapsulate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154680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BE5C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79208" y="2148840"/>
            <a:ext cx="1490472" cy="233172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2313432"/>
            <a:ext cx="127101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BE5C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2743200"/>
            <a:ext cx="127101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BEAA"/>
                </a:solidFill>
                <a:latin typeface="Aptos"/>
              </a:rPr>
              <a:t>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3246120"/>
            <a:ext cx="1271016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6F8FC"/>
                </a:solidFill>
                <a:latin typeface="Aptos"/>
              </a:rPr>
              <a:t>List/Map hold active bookings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1392" y="3154680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BE5C"/>
                </a:solidFill>
                <a:latin typeface="Apto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59" y="2148840"/>
            <a:ext cx="1490472" cy="233172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62287" y="2313432"/>
            <a:ext cx="127101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BE5C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7" y="2743200"/>
            <a:ext cx="127101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BEAA"/>
                </a:solidFill>
                <a:latin typeface="Aptos"/>
              </a:rPr>
              <a:t>Persist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7" y="3246120"/>
            <a:ext cx="1271016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6F8FC"/>
                </a:solidFill>
                <a:latin typeface="Aptos"/>
              </a:rPr>
              <a:t>Files writes the booking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24743" y="3154680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BE5C"/>
                </a:solidFill>
                <a:latin typeface="Aptos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725911" y="2148840"/>
            <a:ext cx="1490472" cy="233172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35639" y="2313432"/>
            <a:ext cx="127101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BE5C"/>
                </a:solidFill>
                <a:latin typeface="Apto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35639" y="2743200"/>
            <a:ext cx="127101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2BEAA"/>
                </a:solidFill>
                <a:latin typeface="Aptos"/>
              </a:rPr>
              <a:t>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35639" y="3246120"/>
            <a:ext cx="1271016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6F8FC"/>
                </a:solidFill>
                <a:latin typeface="Aptos"/>
              </a:rPr>
              <a:t>Streams count bookings and revenue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4892040"/>
            <a:ext cx="4892040" cy="96012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" y="5001768"/>
            <a:ext cx="54864" cy="740664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038344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8FC"/>
                </a:solidFill>
                <a:latin typeface="Aptos"/>
              </a:rPr>
              <a:t>Expected result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5458968"/>
            <a:ext cx="4599431" cy="320040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22BEAA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Reliable booking</a:t>
            </a:r>
            <a:r>
              <a:rPr sz="1000">
                <a:solidFill>
                  <a:srgbClr val="B4C2D7"/>
                </a:solidFill>
              </a:rPr>
              <a:t> — no duplicate seat allocation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4892040"/>
            <a:ext cx="4892040" cy="960120"/>
          </a:xfrm>
          <a:prstGeom prst="roundRect">
            <a:avLst/>
          </a:prstGeom>
          <a:solidFill>
            <a:srgbClr val="1E304E"/>
          </a:solidFill>
          <a:ln>
            <a:solidFill>
              <a:srgbClr val="36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5001768"/>
            <a:ext cx="54864" cy="74066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5038344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8FC"/>
                </a:solidFill>
                <a:latin typeface="Aptos"/>
              </a:rPr>
              <a:t>Quality checks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28231" y="5458968"/>
            <a:ext cx="4599431" cy="320040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6F8FC"/>
                </a:solidFill>
                <a:latin typeface="Aptos"/>
              </a:defRPr>
            </a:pPr>
            <a:r>
              <a:rPr b="1">
                <a:solidFill>
                  <a:srgbClr val="FFBE5C"/>
                </a:solidFill>
              </a:rPr>
              <a:t>• </a:t>
            </a:r>
            <a:r>
              <a:rPr b="1" sz="1100">
                <a:solidFill>
                  <a:srgbClr val="F6F8FC"/>
                </a:solidFill>
              </a:rPr>
              <a:t>Test cases</a:t>
            </a:r>
            <a:r>
              <a:rPr sz="1000">
                <a:solidFill>
                  <a:srgbClr val="B4C2D7"/>
                </a:solidFill>
              </a:rPr>
              <a:t> — valid seat • occupied seat • invalid input • missing 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731520"/>
            <a:ext cx="502920" cy="502920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640080"/>
            <a:ext cx="685800" cy="685800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5212080"/>
            <a:ext cx="320040" cy="320040"/>
          </a:xfrm>
          <a:prstGeom prst="ellipse">
            <a:avLst/>
          </a:prstGeom>
          <a:solidFill>
            <a:srgbClr val="5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5303520"/>
            <a:ext cx="411480" cy="411480"/>
          </a:xfrm>
          <a:prstGeom prst="ellipse">
            <a:avLst/>
          </a:prstGeom>
          <a:solidFill>
            <a:srgbClr val="F47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2BEAA"/>
                </a:solidFill>
                <a:latin typeface="Aptos"/>
              </a:rPr>
              <a:t>CINEMA SEAT BOOKING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F6F8FC"/>
                </a:solidFill>
                <a:latin typeface="Aptos"/>
              </a:rP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0400"/>
            <a:ext cx="8503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BE5C"/>
                </a:solidFill>
                <a:latin typeface="Aptos"/>
              </a:rPr>
              <a:t>Questions &amp; Discussion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4617720"/>
            <a:ext cx="288036" cy="329184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47797" y="4871466"/>
            <a:ext cx="336042" cy="116586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9232" y="4974336"/>
            <a:ext cx="37719" cy="102869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4972" y="4974336"/>
            <a:ext cx="37719" cy="102869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8728" y="4617720"/>
            <a:ext cx="288036" cy="329184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14725" y="4871466"/>
            <a:ext cx="336042" cy="116586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4974336"/>
            <a:ext cx="37719" cy="102869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71900" y="4974336"/>
            <a:ext cx="37719" cy="102869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05656" y="4617720"/>
            <a:ext cx="288036" cy="329184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81653" y="4871466"/>
            <a:ext cx="336042" cy="116586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33088" y="4974336"/>
            <a:ext cx="37719" cy="102869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8828" y="4974336"/>
            <a:ext cx="37719" cy="102869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72583" y="4617720"/>
            <a:ext cx="288036" cy="329184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48580" y="4871466"/>
            <a:ext cx="336042" cy="116586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0016" y="4974336"/>
            <a:ext cx="37719" cy="102869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5755" y="4974336"/>
            <a:ext cx="37719" cy="102869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39512" y="4617720"/>
            <a:ext cx="288036" cy="329184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215509" y="4871466"/>
            <a:ext cx="336042" cy="116586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66944" y="4974336"/>
            <a:ext cx="37719" cy="102869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72684" y="4974336"/>
            <a:ext cx="37719" cy="102869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806440" y="4617720"/>
            <a:ext cx="288036" cy="329184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82437" y="4871466"/>
            <a:ext cx="336042" cy="116586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33872" y="4974336"/>
            <a:ext cx="37719" cy="102869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9612" y="4974336"/>
            <a:ext cx="37719" cy="102869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73368" y="4617720"/>
            <a:ext cx="288036" cy="329184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49365" y="4871466"/>
            <a:ext cx="336042" cy="116586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974336"/>
            <a:ext cx="37719" cy="102869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06540" y="4974336"/>
            <a:ext cx="37719" cy="102869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940296" y="4617720"/>
            <a:ext cx="288036" cy="329184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16293" y="4871466"/>
            <a:ext cx="336042" cy="116586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67728" y="4974336"/>
            <a:ext cx="37719" cy="102869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73468" y="4974336"/>
            <a:ext cx="37719" cy="102869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07224" y="4617720"/>
            <a:ext cx="288036" cy="329184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483221" y="4871466"/>
            <a:ext cx="336042" cy="116586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34656" y="4974336"/>
            <a:ext cx="37719" cy="102869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40396" y="4974336"/>
            <a:ext cx="37719" cy="102869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074152" y="4617720"/>
            <a:ext cx="288036" cy="329184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050149" y="4871466"/>
            <a:ext cx="336042" cy="116586"/>
          </a:xfrm>
          <a:prstGeom prst="round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01583" y="4974336"/>
            <a:ext cx="37719" cy="102869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07324" y="4974336"/>
            <a:ext cx="37719" cy="102869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641080" y="4617720"/>
            <a:ext cx="288036" cy="329184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617077" y="4871466"/>
            <a:ext cx="336042" cy="116586"/>
          </a:xfrm>
          <a:prstGeom prst="round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68511" y="4974336"/>
            <a:ext cx="37719" cy="102869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874252" y="4974336"/>
            <a:ext cx="37719" cy="102869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28800" y="5806440"/>
            <a:ext cx="8503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2D7"/>
                </a:solidFill>
                <a:latin typeface="Aptos"/>
              </a:rPr>
              <a:t>Problem-solving • Java fundamentals • OOP • Files • Collections • Streams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